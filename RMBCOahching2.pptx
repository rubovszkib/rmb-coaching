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61" r:id="rId13"/>
  </p:sldIdLst>
  <p:sldSz cx="12192000" cy="6858000"/>
  <p:notesSz cx="6858000" cy="9144000"/>
  <p:defaultTextStyle>
    <a:defPPr rtl="0">
      <a:defRPr lang="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8D76FA-252E-40D1-9EEC-764B999E5D7C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5D8F6FE4-2F12-46DB-9765-6B24B7DFD741}">
      <dgm:prSet/>
      <dgm:spPr/>
      <dgm:t>
        <a:bodyPr/>
        <a:lstStyle/>
        <a:p>
          <a:r>
            <a:rPr lang="hu-HU"/>
            <a:t>Külön Auth API modul kialakítása</a:t>
          </a:r>
          <a:endParaRPr lang="en-US"/>
        </a:p>
      </dgm:t>
    </dgm:pt>
    <dgm:pt modelId="{9452C9B3-D79F-4034-9439-23DB371C5681}" type="parTrans" cxnId="{F4DE3540-3B80-4F8D-BD29-986A8560C778}">
      <dgm:prSet/>
      <dgm:spPr/>
      <dgm:t>
        <a:bodyPr/>
        <a:lstStyle/>
        <a:p>
          <a:endParaRPr lang="en-US"/>
        </a:p>
      </dgm:t>
    </dgm:pt>
    <dgm:pt modelId="{C6D9A888-7511-4514-84E0-17F4F2404840}" type="sibTrans" cxnId="{F4DE3540-3B80-4F8D-BD29-986A8560C778}">
      <dgm:prSet/>
      <dgm:spPr/>
      <dgm:t>
        <a:bodyPr/>
        <a:lstStyle/>
        <a:p>
          <a:endParaRPr lang="en-US"/>
        </a:p>
      </dgm:t>
    </dgm:pt>
    <dgm:pt modelId="{CCFDB339-129C-48A8-B21A-E06CC8390777}">
      <dgm:prSet/>
      <dgm:spPr/>
      <dgm:t>
        <a:bodyPr/>
        <a:lstStyle/>
        <a:p>
          <a:r>
            <a:rPr lang="hu-HU"/>
            <a:t>Felhasználói regisztráció és bejelentkezés rendszer</a:t>
          </a:r>
          <a:endParaRPr lang="en-US"/>
        </a:p>
      </dgm:t>
    </dgm:pt>
    <dgm:pt modelId="{08A050BC-2B95-4027-9431-29A63DA7802C}" type="parTrans" cxnId="{D6C7C003-F5BC-46D3-BEB3-D456A89E89E2}">
      <dgm:prSet/>
      <dgm:spPr/>
      <dgm:t>
        <a:bodyPr/>
        <a:lstStyle/>
        <a:p>
          <a:endParaRPr lang="en-US"/>
        </a:p>
      </dgm:t>
    </dgm:pt>
    <dgm:pt modelId="{C11B4E0D-B23A-48E7-B042-7D50C58CEEF9}" type="sibTrans" cxnId="{D6C7C003-F5BC-46D3-BEB3-D456A89E89E2}">
      <dgm:prSet/>
      <dgm:spPr/>
      <dgm:t>
        <a:bodyPr/>
        <a:lstStyle/>
        <a:p>
          <a:endParaRPr lang="en-US"/>
        </a:p>
      </dgm:t>
    </dgm:pt>
    <dgm:pt modelId="{3F96038D-F3AD-4026-86F6-D3975BA67C2D}">
      <dgm:prSet/>
      <dgm:spPr/>
      <dgm:t>
        <a:bodyPr/>
        <a:lstStyle/>
        <a:p>
          <a:r>
            <a:rPr lang="hu-HU"/>
            <a:t>JWT token alapú hitelesítés</a:t>
          </a:r>
          <a:endParaRPr lang="en-US"/>
        </a:p>
      </dgm:t>
    </dgm:pt>
    <dgm:pt modelId="{63BD3221-04DC-416E-A25A-260576CB650F}" type="parTrans" cxnId="{28890D29-93CF-4DF2-AB85-423B0D012CEB}">
      <dgm:prSet/>
      <dgm:spPr/>
      <dgm:t>
        <a:bodyPr/>
        <a:lstStyle/>
        <a:p>
          <a:endParaRPr lang="en-US"/>
        </a:p>
      </dgm:t>
    </dgm:pt>
    <dgm:pt modelId="{E98353DD-1E43-4B2C-98AE-C3314E4D3C9B}" type="sibTrans" cxnId="{28890D29-93CF-4DF2-AB85-423B0D012CEB}">
      <dgm:prSet/>
      <dgm:spPr/>
      <dgm:t>
        <a:bodyPr/>
        <a:lstStyle/>
        <a:p>
          <a:endParaRPr lang="en-US"/>
        </a:p>
      </dgm:t>
    </dgm:pt>
    <dgm:pt modelId="{180C4034-FE8B-4BC6-A575-0ACCEEE4566F}">
      <dgm:prSet/>
      <dgm:spPr/>
      <dgm:t>
        <a:bodyPr/>
        <a:lstStyle/>
        <a:p>
          <a:r>
            <a:rPr lang="hu-HU"/>
            <a:t>Jogosultság- és szerepkörkezelés</a:t>
          </a:r>
          <a:endParaRPr lang="en-US"/>
        </a:p>
      </dgm:t>
    </dgm:pt>
    <dgm:pt modelId="{6F3EB14C-D5F8-4EB0-956F-8338133850AF}" type="parTrans" cxnId="{A90CCB48-E750-4910-BCA8-FBC98A616056}">
      <dgm:prSet/>
      <dgm:spPr/>
      <dgm:t>
        <a:bodyPr/>
        <a:lstStyle/>
        <a:p>
          <a:endParaRPr lang="en-US"/>
        </a:p>
      </dgm:t>
    </dgm:pt>
    <dgm:pt modelId="{7A5D8720-24FA-494D-B079-340801470BC9}" type="sibTrans" cxnId="{A90CCB48-E750-4910-BCA8-FBC98A616056}">
      <dgm:prSet/>
      <dgm:spPr/>
      <dgm:t>
        <a:bodyPr/>
        <a:lstStyle/>
        <a:p>
          <a:endParaRPr lang="en-US"/>
        </a:p>
      </dgm:t>
    </dgm:pt>
    <dgm:pt modelId="{B0C3018A-E1B9-47E8-83F1-4993EFB88FF9}">
      <dgm:prSet/>
      <dgm:spPr/>
      <dgm:t>
        <a:bodyPr/>
        <a:lstStyle/>
        <a:p>
          <a:r>
            <a:rPr lang="hu-HU"/>
            <a:t>Biztonságos jelszókezelés (hash + salt)</a:t>
          </a:r>
          <a:endParaRPr lang="en-US"/>
        </a:p>
      </dgm:t>
    </dgm:pt>
    <dgm:pt modelId="{01F60EDC-0CB1-41D4-B4B6-FB70512FE409}" type="parTrans" cxnId="{C9354C3D-297B-4A4A-93F5-DAC77D11CC55}">
      <dgm:prSet/>
      <dgm:spPr/>
      <dgm:t>
        <a:bodyPr/>
        <a:lstStyle/>
        <a:p>
          <a:endParaRPr lang="en-US"/>
        </a:p>
      </dgm:t>
    </dgm:pt>
    <dgm:pt modelId="{22A04073-BDC0-47D2-96E3-7A832032BA67}" type="sibTrans" cxnId="{C9354C3D-297B-4A4A-93F5-DAC77D11CC55}">
      <dgm:prSet/>
      <dgm:spPr/>
      <dgm:t>
        <a:bodyPr/>
        <a:lstStyle/>
        <a:p>
          <a:endParaRPr lang="en-US"/>
        </a:p>
      </dgm:t>
    </dgm:pt>
    <dgm:pt modelId="{51053787-ABBB-45F1-B270-CA6178B6A545}">
      <dgm:prSet/>
      <dgm:spPr/>
      <dgm:t>
        <a:bodyPr/>
        <a:lstStyle/>
        <a:p>
          <a:r>
            <a:rPr lang="hu-HU"/>
            <a:t>API védelem autentikációval</a:t>
          </a:r>
          <a:endParaRPr lang="en-US"/>
        </a:p>
      </dgm:t>
    </dgm:pt>
    <dgm:pt modelId="{3EF4746C-37D6-4538-A2B9-049CF11A889C}" type="parTrans" cxnId="{CC56D5C6-F789-4637-855D-A1CD3C732F54}">
      <dgm:prSet/>
      <dgm:spPr/>
      <dgm:t>
        <a:bodyPr/>
        <a:lstStyle/>
        <a:p>
          <a:endParaRPr lang="en-US"/>
        </a:p>
      </dgm:t>
    </dgm:pt>
    <dgm:pt modelId="{7F70AC4E-8834-4DE5-81D7-8BF26B6D301B}" type="sibTrans" cxnId="{CC56D5C6-F789-4637-855D-A1CD3C732F54}">
      <dgm:prSet/>
      <dgm:spPr/>
      <dgm:t>
        <a:bodyPr/>
        <a:lstStyle/>
        <a:p>
          <a:endParaRPr lang="en-US"/>
        </a:p>
      </dgm:t>
    </dgm:pt>
    <dgm:pt modelId="{FBA21FF3-772C-40CB-9903-4D6BD8A9A83E}">
      <dgm:prSet/>
      <dgm:spPr/>
      <dgm:t>
        <a:bodyPr/>
        <a:lstStyle/>
        <a:p>
          <a:r>
            <a:rPr lang="hu-HU"/>
            <a:t>Frontend integráció előkészítése</a:t>
          </a:r>
          <a:endParaRPr lang="en-US"/>
        </a:p>
      </dgm:t>
    </dgm:pt>
    <dgm:pt modelId="{8BB6F0CA-693E-4480-8FF8-12F00D2FC086}" type="parTrans" cxnId="{B8EC2677-A366-4102-BA1A-A4CC37EE9BE6}">
      <dgm:prSet/>
      <dgm:spPr/>
      <dgm:t>
        <a:bodyPr/>
        <a:lstStyle/>
        <a:p>
          <a:endParaRPr lang="en-US"/>
        </a:p>
      </dgm:t>
    </dgm:pt>
    <dgm:pt modelId="{C2960A4C-1A72-4C6F-B834-9CFDA12A3832}" type="sibTrans" cxnId="{B8EC2677-A366-4102-BA1A-A4CC37EE9BE6}">
      <dgm:prSet/>
      <dgm:spPr/>
      <dgm:t>
        <a:bodyPr/>
        <a:lstStyle/>
        <a:p>
          <a:endParaRPr lang="en-US"/>
        </a:p>
      </dgm:t>
    </dgm:pt>
    <dgm:pt modelId="{FC0495F2-EF9A-464D-B68E-9EE840A87BD8}" type="pres">
      <dgm:prSet presAssocID="{018D76FA-252E-40D1-9EEC-764B999E5D7C}" presName="vert0" presStyleCnt="0">
        <dgm:presLayoutVars>
          <dgm:dir/>
          <dgm:animOne val="branch"/>
          <dgm:animLvl val="lvl"/>
        </dgm:presLayoutVars>
      </dgm:prSet>
      <dgm:spPr/>
    </dgm:pt>
    <dgm:pt modelId="{27FCE6B7-DB09-4E44-9163-B6EDD21AFB83}" type="pres">
      <dgm:prSet presAssocID="{5D8F6FE4-2F12-46DB-9765-6B24B7DFD741}" presName="thickLine" presStyleLbl="alignNode1" presStyleIdx="0" presStyleCnt="7"/>
      <dgm:spPr/>
    </dgm:pt>
    <dgm:pt modelId="{0A2090F8-7216-4691-B286-F135317F58CC}" type="pres">
      <dgm:prSet presAssocID="{5D8F6FE4-2F12-46DB-9765-6B24B7DFD741}" presName="horz1" presStyleCnt="0"/>
      <dgm:spPr/>
    </dgm:pt>
    <dgm:pt modelId="{7D7160F1-D7F5-4D96-89AC-D5DA4E4FC85D}" type="pres">
      <dgm:prSet presAssocID="{5D8F6FE4-2F12-46DB-9765-6B24B7DFD741}" presName="tx1" presStyleLbl="revTx" presStyleIdx="0" presStyleCnt="7"/>
      <dgm:spPr/>
    </dgm:pt>
    <dgm:pt modelId="{3A6F8D9A-8420-4198-8745-3E4ACDC46C17}" type="pres">
      <dgm:prSet presAssocID="{5D8F6FE4-2F12-46DB-9765-6B24B7DFD741}" presName="vert1" presStyleCnt="0"/>
      <dgm:spPr/>
    </dgm:pt>
    <dgm:pt modelId="{328376D7-8C4F-460E-A859-57623DCD80FD}" type="pres">
      <dgm:prSet presAssocID="{CCFDB339-129C-48A8-B21A-E06CC8390777}" presName="thickLine" presStyleLbl="alignNode1" presStyleIdx="1" presStyleCnt="7"/>
      <dgm:spPr/>
    </dgm:pt>
    <dgm:pt modelId="{032FF35E-10C5-45B6-96FF-93D34BEB425B}" type="pres">
      <dgm:prSet presAssocID="{CCFDB339-129C-48A8-B21A-E06CC8390777}" presName="horz1" presStyleCnt="0"/>
      <dgm:spPr/>
    </dgm:pt>
    <dgm:pt modelId="{0256572D-23C7-4F4C-98CB-72012A8CF553}" type="pres">
      <dgm:prSet presAssocID="{CCFDB339-129C-48A8-B21A-E06CC8390777}" presName="tx1" presStyleLbl="revTx" presStyleIdx="1" presStyleCnt="7"/>
      <dgm:spPr/>
    </dgm:pt>
    <dgm:pt modelId="{4129CA91-DEE9-4397-9889-051A5FA8774F}" type="pres">
      <dgm:prSet presAssocID="{CCFDB339-129C-48A8-B21A-E06CC8390777}" presName="vert1" presStyleCnt="0"/>
      <dgm:spPr/>
    </dgm:pt>
    <dgm:pt modelId="{5787B2B8-698B-44F1-9553-99353E2221BB}" type="pres">
      <dgm:prSet presAssocID="{3F96038D-F3AD-4026-86F6-D3975BA67C2D}" presName="thickLine" presStyleLbl="alignNode1" presStyleIdx="2" presStyleCnt="7"/>
      <dgm:spPr/>
    </dgm:pt>
    <dgm:pt modelId="{5102851B-342C-40F4-8E6B-3BAD6DE23AC9}" type="pres">
      <dgm:prSet presAssocID="{3F96038D-F3AD-4026-86F6-D3975BA67C2D}" presName="horz1" presStyleCnt="0"/>
      <dgm:spPr/>
    </dgm:pt>
    <dgm:pt modelId="{7FA8856D-74B9-4DB6-A154-642EFDCC8846}" type="pres">
      <dgm:prSet presAssocID="{3F96038D-F3AD-4026-86F6-D3975BA67C2D}" presName="tx1" presStyleLbl="revTx" presStyleIdx="2" presStyleCnt="7"/>
      <dgm:spPr/>
    </dgm:pt>
    <dgm:pt modelId="{1BC18B09-BFD6-45FA-8769-87313AF3676F}" type="pres">
      <dgm:prSet presAssocID="{3F96038D-F3AD-4026-86F6-D3975BA67C2D}" presName="vert1" presStyleCnt="0"/>
      <dgm:spPr/>
    </dgm:pt>
    <dgm:pt modelId="{4FF9C9CC-3DAE-4E6A-9FAD-296174A4D1E9}" type="pres">
      <dgm:prSet presAssocID="{180C4034-FE8B-4BC6-A575-0ACCEEE4566F}" presName="thickLine" presStyleLbl="alignNode1" presStyleIdx="3" presStyleCnt="7"/>
      <dgm:spPr/>
    </dgm:pt>
    <dgm:pt modelId="{7986DB0A-5259-4FA3-A4D2-FC6C3AC53AE6}" type="pres">
      <dgm:prSet presAssocID="{180C4034-FE8B-4BC6-A575-0ACCEEE4566F}" presName="horz1" presStyleCnt="0"/>
      <dgm:spPr/>
    </dgm:pt>
    <dgm:pt modelId="{C8EAD302-4176-4349-9DBB-599DC646907B}" type="pres">
      <dgm:prSet presAssocID="{180C4034-FE8B-4BC6-A575-0ACCEEE4566F}" presName="tx1" presStyleLbl="revTx" presStyleIdx="3" presStyleCnt="7"/>
      <dgm:spPr/>
    </dgm:pt>
    <dgm:pt modelId="{351BB671-46D4-40C2-9A6A-63AE24FF9B1E}" type="pres">
      <dgm:prSet presAssocID="{180C4034-FE8B-4BC6-A575-0ACCEEE4566F}" presName="vert1" presStyleCnt="0"/>
      <dgm:spPr/>
    </dgm:pt>
    <dgm:pt modelId="{24C70334-5C7B-4102-BF17-38BACF8EB252}" type="pres">
      <dgm:prSet presAssocID="{B0C3018A-E1B9-47E8-83F1-4993EFB88FF9}" presName="thickLine" presStyleLbl="alignNode1" presStyleIdx="4" presStyleCnt="7"/>
      <dgm:spPr/>
    </dgm:pt>
    <dgm:pt modelId="{F5B687BF-AAF8-4269-BC75-562ACC17B120}" type="pres">
      <dgm:prSet presAssocID="{B0C3018A-E1B9-47E8-83F1-4993EFB88FF9}" presName="horz1" presStyleCnt="0"/>
      <dgm:spPr/>
    </dgm:pt>
    <dgm:pt modelId="{8A84323C-662B-4EB1-9A09-88BF149444B9}" type="pres">
      <dgm:prSet presAssocID="{B0C3018A-E1B9-47E8-83F1-4993EFB88FF9}" presName="tx1" presStyleLbl="revTx" presStyleIdx="4" presStyleCnt="7"/>
      <dgm:spPr/>
    </dgm:pt>
    <dgm:pt modelId="{C76C8A8B-04A1-4A8D-B5CA-5F1CB2064634}" type="pres">
      <dgm:prSet presAssocID="{B0C3018A-E1B9-47E8-83F1-4993EFB88FF9}" presName="vert1" presStyleCnt="0"/>
      <dgm:spPr/>
    </dgm:pt>
    <dgm:pt modelId="{E41B99E0-B568-47EC-B554-B5C3FBC8F27A}" type="pres">
      <dgm:prSet presAssocID="{51053787-ABBB-45F1-B270-CA6178B6A545}" presName="thickLine" presStyleLbl="alignNode1" presStyleIdx="5" presStyleCnt="7"/>
      <dgm:spPr/>
    </dgm:pt>
    <dgm:pt modelId="{FA4BD73D-8723-4298-B16E-691417C683B3}" type="pres">
      <dgm:prSet presAssocID="{51053787-ABBB-45F1-B270-CA6178B6A545}" presName="horz1" presStyleCnt="0"/>
      <dgm:spPr/>
    </dgm:pt>
    <dgm:pt modelId="{5F4B5964-34BA-4E7A-BC0E-807548755E54}" type="pres">
      <dgm:prSet presAssocID="{51053787-ABBB-45F1-B270-CA6178B6A545}" presName="tx1" presStyleLbl="revTx" presStyleIdx="5" presStyleCnt="7"/>
      <dgm:spPr/>
    </dgm:pt>
    <dgm:pt modelId="{96C57839-02FD-4FB2-A689-C5C922BA9877}" type="pres">
      <dgm:prSet presAssocID="{51053787-ABBB-45F1-B270-CA6178B6A545}" presName="vert1" presStyleCnt="0"/>
      <dgm:spPr/>
    </dgm:pt>
    <dgm:pt modelId="{871B2E08-09BA-48DB-B467-C85060AF9225}" type="pres">
      <dgm:prSet presAssocID="{FBA21FF3-772C-40CB-9903-4D6BD8A9A83E}" presName="thickLine" presStyleLbl="alignNode1" presStyleIdx="6" presStyleCnt="7"/>
      <dgm:spPr/>
    </dgm:pt>
    <dgm:pt modelId="{0ACC10B5-36D0-45BF-B353-9C52F03D981E}" type="pres">
      <dgm:prSet presAssocID="{FBA21FF3-772C-40CB-9903-4D6BD8A9A83E}" presName="horz1" presStyleCnt="0"/>
      <dgm:spPr/>
    </dgm:pt>
    <dgm:pt modelId="{4F127265-5479-4AE4-BD00-3C47A8C381AB}" type="pres">
      <dgm:prSet presAssocID="{FBA21FF3-772C-40CB-9903-4D6BD8A9A83E}" presName="tx1" presStyleLbl="revTx" presStyleIdx="6" presStyleCnt="7"/>
      <dgm:spPr/>
    </dgm:pt>
    <dgm:pt modelId="{2A5E0CB7-0086-4F5F-B77B-2C9FF176DAF9}" type="pres">
      <dgm:prSet presAssocID="{FBA21FF3-772C-40CB-9903-4D6BD8A9A83E}" presName="vert1" presStyleCnt="0"/>
      <dgm:spPr/>
    </dgm:pt>
  </dgm:ptLst>
  <dgm:cxnLst>
    <dgm:cxn modelId="{D6C7C003-F5BC-46D3-BEB3-D456A89E89E2}" srcId="{018D76FA-252E-40D1-9EEC-764B999E5D7C}" destId="{CCFDB339-129C-48A8-B21A-E06CC8390777}" srcOrd="1" destOrd="0" parTransId="{08A050BC-2B95-4027-9431-29A63DA7802C}" sibTransId="{C11B4E0D-B23A-48E7-B042-7D50C58CEEF9}"/>
    <dgm:cxn modelId="{A045B01F-5D28-435C-9D84-CB4A19521DC2}" type="presOf" srcId="{3F96038D-F3AD-4026-86F6-D3975BA67C2D}" destId="{7FA8856D-74B9-4DB6-A154-642EFDCC8846}" srcOrd="0" destOrd="0" presId="urn:microsoft.com/office/officeart/2008/layout/LinedList"/>
    <dgm:cxn modelId="{28890D29-93CF-4DF2-AB85-423B0D012CEB}" srcId="{018D76FA-252E-40D1-9EEC-764B999E5D7C}" destId="{3F96038D-F3AD-4026-86F6-D3975BA67C2D}" srcOrd="2" destOrd="0" parTransId="{63BD3221-04DC-416E-A25A-260576CB650F}" sibTransId="{E98353DD-1E43-4B2C-98AE-C3314E4D3C9B}"/>
    <dgm:cxn modelId="{DE463D2D-483B-41F0-8A4F-4F527B5F42F8}" type="presOf" srcId="{51053787-ABBB-45F1-B270-CA6178B6A545}" destId="{5F4B5964-34BA-4E7A-BC0E-807548755E54}" srcOrd="0" destOrd="0" presId="urn:microsoft.com/office/officeart/2008/layout/LinedList"/>
    <dgm:cxn modelId="{023F482D-2617-48DE-A5DE-7424391BA327}" type="presOf" srcId="{B0C3018A-E1B9-47E8-83F1-4993EFB88FF9}" destId="{8A84323C-662B-4EB1-9A09-88BF149444B9}" srcOrd="0" destOrd="0" presId="urn:microsoft.com/office/officeart/2008/layout/LinedList"/>
    <dgm:cxn modelId="{07966132-5856-4B54-95E5-CABD26F830F9}" type="presOf" srcId="{5D8F6FE4-2F12-46DB-9765-6B24B7DFD741}" destId="{7D7160F1-D7F5-4D96-89AC-D5DA4E4FC85D}" srcOrd="0" destOrd="0" presId="urn:microsoft.com/office/officeart/2008/layout/LinedList"/>
    <dgm:cxn modelId="{C9354C3D-297B-4A4A-93F5-DAC77D11CC55}" srcId="{018D76FA-252E-40D1-9EEC-764B999E5D7C}" destId="{B0C3018A-E1B9-47E8-83F1-4993EFB88FF9}" srcOrd="4" destOrd="0" parTransId="{01F60EDC-0CB1-41D4-B4B6-FB70512FE409}" sibTransId="{22A04073-BDC0-47D2-96E3-7A832032BA67}"/>
    <dgm:cxn modelId="{F4DE3540-3B80-4F8D-BD29-986A8560C778}" srcId="{018D76FA-252E-40D1-9EEC-764B999E5D7C}" destId="{5D8F6FE4-2F12-46DB-9765-6B24B7DFD741}" srcOrd="0" destOrd="0" parTransId="{9452C9B3-D79F-4034-9439-23DB371C5681}" sibTransId="{C6D9A888-7511-4514-84E0-17F4F2404840}"/>
    <dgm:cxn modelId="{2CE69A42-23CC-4B74-8540-BC55F10A3829}" type="presOf" srcId="{180C4034-FE8B-4BC6-A575-0ACCEEE4566F}" destId="{C8EAD302-4176-4349-9DBB-599DC646907B}" srcOrd="0" destOrd="0" presId="urn:microsoft.com/office/officeart/2008/layout/LinedList"/>
    <dgm:cxn modelId="{A90CCB48-E750-4910-BCA8-FBC98A616056}" srcId="{018D76FA-252E-40D1-9EEC-764B999E5D7C}" destId="{180C4034-FE8B-4BC6-A575-0ACCEEE4566F}" srcOrd="3" destOrd="0" parTransId="{6F3EB14C-D5F8-4EB0-956F-8338133850AF}" sibTransId="{7A5D8720-24FA-494D-B079-340801470BC9}"/>
    <dgm:cxn modelId="{B8EC2677-A366-4102-BA1A-A4CC37EE9BE6}" srcId="{018D76FA-252E-40D1-9EEC-764B999E5D7C}" destId="{FBA21FF3-772C-40CB-9903-4D6BD8A9A83E}" srcOrd="6" destOrd="0" parTransId="{8BB6F0CA-693E-4480-8FF8-12F00D2FC086}" sibTransId="{C2960A4C-1A72-4C6F-B834-9CFDA12A3832}"/>
    <dgm:cxn modelId="{15D9278C-32C3-41F9-80EA-88EA44BD83E8}" type="presOf" srcId="{FBA21FF3-772C-40CB-9903-4D6BD8A9A83E}" destId="{4F127265-5479-4AE4-BD00-3C47A8C381AB}" srcOrd="0" destOrd="0" presId="urn:microsoft.com/office/officeart/2008/layout/LinedList"/>
    <dgm:cxn modelId="{3CF3D4A3-D52A-4C34-8D70-91495FF6507A}" type="presOf" srcId="{CCFDB339-129C-48A8-B21A-E06CC8390777}" destId="{0256572D-23C7-4F4C-98CB-72012A8CF553}" srcOrd="0" destOrd="0" presId="urn:microsoft.com/office/officeart/2008/layout/LinedList"/>
    <dgm:cxn modelId="{CC56D5C6-F789-4637-855D-A1CD3C732F54}" srcId="{018D76FA-252E-40D1-9EEC-764B999E5D7C}" destId="{51053787-ABBB-45F1-B270-CA6178B6A545}" srcOrd="5" destOrd="0" parTransId="{3EF4746C-37D6-4538-A2B9-049CF11A889C}" sibTransId="{7F70AC4E-8834-4DE5-81D7-8BF26B6D301B}"/>
    <dgm:cxn modelId="{8786C2F4-4C9C-4893-A69E-399387FB1476}" type="presOf" srcId="{018D76FA-252E-40D1-9EEC-764B999E5D7C}" destId="{FC0495F2-EF9A-464D-B68E-9EE840A87BD8}" srcOrd="0" destOrd="0" presId="urn:microsoft.com/office/officeart/2008/layout/LinedList"/>
    <dgm:cxn modelId="{524966B8-A36E-4E2F-B664-B4894076E7FA}" type="presParOf" srcId="{FC0495F2-EF9A-464D-B68E-9EE840A87BD8}" destId="{27FCE6B7-DB09-4E44-9163-B6EDD21AFB83}" srcOrd="0" destOrd="0" presId="urn:microsoft.com/office/officeart/2008/layout/LinedList"/>
    <dgm:cxn modelId="{C4907639-E70C-4B8B-A083-54B319C9E111}" type="presParOf" srcId="{FC0495F2-EF9A-464D-B68E-9EE840A87BD8}" destId="{0A2090F8-7216-4691-B286-F135317F58CC}" srcOrd="1" destOrd="0" presId="urn:microsoft.com/office/officeart/2008/layout/LinedList"/>
    <dgm:cxn modelId="{83826ACD-67E1-47EB-8EBC-863BDBEC93D0}" type="presParOf" srcId="{0A2090F8-7216-4691-B286-F135317F58CC}" destId="{7D7160F1-D7F5-4D96-89AC-D5DA4E4FC85D}" srcOrd="0" destOrd="0" presId="urn:microsoft.com/office/officeart/2008/layout/LinedList"/>
    <dgm:cxn modelId="{E8636482-1FF7-45DE-A909-31B5FB29535E}" type="presParOf" srcId="{0A2090F8-7216-4691-B286-F135317F58CC}" destId="{3A6F8D9A-8420-4198-8745-3E4ACDC46C17}" srcOrd="1" destOrd="0" presId="urn:microsoft.com/office/officeart/2008/layout/LinedList"/>
    <dgm:cxn modelId="{8D429142-2156-4969-AAB1-85B5B7984FAE}" type="presParOf" srcId="{FC0495F2-EF9A-464D-B68E-9EE840A87BD8}" destId="{328376D7-8C4F-460E-A859-57623DCD80FD}" srcOrd="2" destOrd="0" presId="urn:microsoft.com/office/officeart/2008/layout/LinedList"/>
    <dgm:cxn modelId="{2960D136-42AE-49F7-B60E-1B19DB542B35}" type="presParOf" srcId="{FC0495F2-EF9A-464D-B68E-9EE840A87BD8}" destId="{032FF35E-10C5-45B6-96FF-93D34BEB425B}" srcOrd="3" destOrd="0" presId="urn:microsoft.com/office/officeart/2008/layout/LinedList"/>
    <dgm:cxn modelId="{5BF2368D-635D-4840-B67C-94E04C40234D}" type="presParOf" srcId="{032FF35E-10C5-45B6-96FF-93D34BEB425B}" destId="{0256572D-23C7-4F4C-98CB-72012A8CF553}" srcOrd="0" destOrd="0" presId="urn:microsoft.com/office/officeart/2008/layout/LinedList"/>
    <dgm:cxn modelId="{C3DC5594-45E3-4D7D-8D80-F00FFFBC63ED}" type="presParOf" srcId="{032FF35E-10C5-45B6-96FF-93D34BEB425B}" destId="{4129CA91-DEE9-4397-9889-051A5FA8774F}" srcOrd="1" destOrd="0" presId="urn:microsoft.com/office/officeart/2008/layout/LinedList"/>
    <dgm:cxn modelId="{B8128A65-CEE7-4B20-834C-CE7FB32224BF}" type="presParOf" srcId="{FC0495F2-EF9A-464D-B68E-9EE840A87BD8}" destId="{5787B2B8-698B-44F1-9553-99353E2221BB}" srcOrd="4" destOrd="0" presId="urn:microsoft.com/office/officeart/2008/layout/LinedList"/>
    <dgm:cxn modelId="{6BE03EF1-971E-49BD-BC85-EF0C527667D7}" type="presParOf" srcId="{FC0495F2-EF9A-464D-B68E-9EE840A87BD8}" destId="{5102851B-342C-40F4-8E6B-3BAD6DE23AC9}" srcOrd="5" destOrd="0" presId="urn:microsoft.com/office/officeart/2008/layout/LinedList"/>
    <dgm:cxn modelId="{CDF85A2E-B925-43FD-9322-CCF3B2F87C2B}" type="presParOf" srcId="{5102851B-342C-40F4-8E6B-3BAD6DE23AC9}" destId="{7FA8856D-74B9-4DB6-A154-642EFDCC8846}" srcOrd="0" destOrd="0" presId="urn:microsoft.com/office/officeart/2008/layout/LinedList"/>
    <dgm:cxn modelId="{979365E7-9BBA-4F52-945D-E7DCC6B2219F}" type="presParOf" srcId="{5102851B-342C-40F4-8E6B-3BAD6DE23AC9}" destId="{1BC18B09-BFD6-45FA-8769-87313AF3676F}" srcOrd="1" destOrd="0" presId="urn:microsoft.com/office/officeart/2008/layout/LinedList"/>
    <dgm:cxn modelId="{BAC7C246-52E0-4F77-A72B-FA923818D4D9}" type="presParOf" srcId="{FC0495F2-EF9A-464D-B68E-9EE840A87BD8}" destId="{4FF9C9CC-3DAE-4E6A-9FAD-296174A4D1E9}" srcOrd="6" destOrd="0" presId="urn:microsoft.com/office/officeart/2008/layout/LinedList"/>
    <dgm:cxn modelId="{8D3BE81F-5AEF-45FF-9504-A167BE0B62A5}" type="presParOf" srcId="{FC0495F2-EF9A-464D-B68E-9EE840A87BD8}" destId="{7986DB0A-5259-4FA3-A4D2-FC6C3AC53AE6}" srcOrd="7" destOrd="0" presId="urn:microsoft.com/office/officeart/2008/layout/LinedList"/>
    <dgm:cxn modelId="{85245B53-D86A-49BE-A95C-10EB0B24834A}" type="presParOf" srcId="{7986DB0A-5259-4FA3-A4D2-FC6C3AC53AE6}" destId="{C8EAD302-4176-4349-9DBB-599DC646907B}" srcOrd="0" destOrd="0" presId="urn:microsoft.com/office/officeart/2008/layout/LinedList"/>
    <dgm:cxn modelId="{AD6B28FA-6AC3-421D-9932-6409D88FFE30}" type="presParOf" srcId="{7986DB0A-5259-4FA3-A4D2-FC6C3AC53AE6}" destId="{351BB671-46D4-40C2-9A6A-63AE24FF9B1E}" srcOrd="1" destOrd="0" presId="urn:microsoft.com/office/officeart/2008/layout/LinedList"/>
    <dgm:cxn modelId="{C3B39B56-19CD-4410-96B8-8B7D6C5C5600}" type="presParOf" srcId="{FC0495F2-EF9A-464D-B68E-9EE840A87BD8}" destId="{24C70334-5C7B-4102-BF17-38BACF8EB252}" srcOrd="8" destOrd="0" presId="urn:microsoft.com/office/officeart/2008/layout/LinedList"/>
    <dgm:cxn modelId="{5D8D7805-2C06-4226-8F21-5524400764EF}" type="presParOf" srcId="{FC0495F2-EF9A-464D-B68E-9EE840A87BD8}" destId="{F5B687BF-AAF8-4269-BC75-562ACC17B120}" srcOrd="9" destOrd="0" presId="urn:microsoft.com/office/officeart/2008/layout/LinedList"/>
    <dgm:cxn modelId="{8DD6FB62-3E16-4C8E-A897-0D796924453C}" type="presParOf" srcId="{F5B687BF-AAF8-4269-BC75-562ACC17B120}" destId="{8A84323C-662B-4EB1-9A09-88BF149444B9}" srcOrd="0" destOrd="0" presId="urn:microsoft.com/office/officeart/2008/layout/LinedList"/>
    <dgm:cxn modelId="{5DF20F2D-D249-418E-B903-AD1189F2536A}" type="presParOf" srcId="{F5B687BF-AAF8-4269-BC75-562ACC17B120}" destId="{C76C8A8B-04A1-4A8D-B5CA-5F1CB2064634}" srcOrd="1" destOrd="0" presId="urn:microsoft.com/office/officeart/2008/layout/LinedList"/>
    <dgm:cxn modelId="{439FBE84-FCBD-49F7-80B0-FFCA36DC7D1F}" type="presParOf" srcId="{FC0495F2-EF9A-464D-B68E-9EE840A87BD8}" destId="{E41B99E0-B568-47EC-B554-B5C3FBC8F27A}" srcOrd="10" destOrd="0" presId="urn:microsoft.com/office/officeart/2008/layout/LinedList"/>
    <dgm:cxn modelId="{DD1E1C34-59E0-4C7C-925A-F2F917E66A5C}" type="presParOf" srcId="{FC0495F2-EF9A-464D-B68E-9EE840A87BD8}" destId="{FA4BD73D-8723-4298-B16E-691417C683B3}" srcOrd="11" destOrd="0" presId="urn:microsoft.com/office/officeart/2008/layout/LinedList"/>
    <dgm:cxn modelId="{EB48F168-BCCA-4B7B-90E6-39CFE82A2315}" type="presParOf" srcId="{FA4BD73D-8723-4298-B16E-691417C683B3}" destId="{5F4B5964-34BA-4E7A-BC0E-807548755E54}" srcOrd="0" destOrd="0" presId="urn:microsoft.com/office/officeart/2008/layout/LinedList"/>
    <dgm:cxn modelId="{92B78588-8CF2-4EDF-BAFA-A207B0D7B833}" type="presParOf" srcId="{FA4BD73D-8723-4298-B16E-691417C683B3}" destId="{96C57839-02FD-4FB2-A689-C5C922BA9877}" srcOrd="1" destOrd="0" presId="urn:microsoft.com/office/officeart/2008/layout/LinedList"/>
    <dgm:cxn modelId="{EA42270A-6C98-4767-A16D-20B370E8FBC6}" type="presParOf" srcId="{FC0495F2-EF9A-464D-B68E-9EE840A87BD8}" destId="{871B2E08-09BA-48DB-B467-C85060AF9225}" srcOrd="12" destOrd="0" presId="urn:microsoft.com/office/officeart/2008/layout/LinedList"/>
    <dgm:cxn modelId="{2401661A-AAF2-4592-861C-985253ADF4E5}" type="presParOf" srcId="{FC0495F2-EF9A-464D-B68E-9EE840A87BD8}" destId="{0ACC10B5-36D0-45BF-B353-9C52F03D981E}" srcOrd="13" destOrd="0" presId="urn:microsoft.com/office/officeart/2008/layout/LinedList"/>
    <dgm:cxn modelId="{035F9574-5932-41CC-B582-367CE41F03CD}" type="presParOf" srcId="{0ACC10B5-36D0-45BF-B353-9C52F03D981E}" destId="{4F127265-5479-4AE4-BD00-3C47A8C381AB}" srcOrd="0" destOrd="0" presId="urn:microsoft.com/office/officeart/2008/layout/LinedList"/>
    <dgm:cxn modelId="{B99E9D67-158B-492B-8988-B4F778AF88D6}" type="presParOf" srcId="{0ACC10B5-36D0-45BF-B353-9C52F03D981E}" destId="{2A5E0CB7-0086-4F5F-B77B-2C9FF176DAF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FCE6B7-DB09-4E44-9163-B6EDD21AFB83}">
      <dsp:nvSpPr>
        <dsp:cNvPr id="0" name=""/>
        <dsp:cNvSpPr/>
      </dsp:nvSpPr>
      <dsp:spPr>
        <a:xfrm>
          <a:off x="0" y="651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7160F1-D7F5-4D96-89AC-D5DA4E4FC85D}">
      <dsp:nvSpPr>
        <dsp:cNvPr id="0" name=""/>
        <dsp:cNvSpPr/>
      </dsp:nvSpPr>
      <dsp:spPr>
        <a:xfrm>
          <a:off x="0" y="651"/>
          <a:ext cx="6858000" cy="761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Külön Auth API modul kialakítása</a:t>
          </a:r>
          <a:endParaRPr lang="en-US" sz="2100" kern="1200"/>
        </a:p>
      </dsp:txBody>
      <dsp:txXfrm>
        <a:off x="0" y="651"/>
        <a:ext cx="6858000" cy="761813"/>
      </dsp:txXfrm>
    </dsp:sp>
    <dsp:sp modelId="{328376D7-8C4F-460E-A859-57623DCD80FD}">
      <dsp:nvSpPr>
        <dsp:cNvPr id="0" name=""/>
        <dsp:cNvSpPr/>
      </dsp:nvSpPr>
      <dsp:spPr>
        <a:xfrm>
          <a:off x="0" y="762465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56572D-23C7-4F4C-98CB-72012A8CF553}">
      <dsp:nvSpPr>
        <dsp:cNvPr id="0" name=""/>
        <dsp:cNvSpPr/>
      </dsp:nvSpPr>
      <dsp:spPr>
        <a:xfrm>
          <a:off x="0" y="762465"/>
          <a:ext cx="6858000" cy="761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Felhasználói regisztráció és bejelentkezés rendszer</a:t>
          </a:r>
          <a:endParaRPr lang="en-US" sz="2100" kern="1200"/>
        </a:p>
      </dsp:txBody>
      <dsp:txXfrm>
        <a:off x="0" y="762465"/>
        <a:ext cx="6858000" cy="761813"/>
      </dsp:txXfrm>
    </dsp:sp>
    <dsp:sp modelId="{5787B2B8-698B-44F1-9553-99353E2221BB}">
      <dsp:nvSpPr>
        <dsp:cNvPr id="0" name=""/>
        <dsp:cNvSpPr/>
      </dsp:nvSpPr>
      <dsp:spPr>
        <a:xfrm>
          <a:off x="0" y="1524279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A8856D-74B9-4DB6-A154-642EFDCC8846}">
      <dsp:nvSpPr>
        <dsp:cNvPr id="0" name=""/>
        <dsp:cNvSpPr/>
      </dsp:nvSpPr>
      <dsp:spPr>
        <a:xfrm>
          <a:off x="0" y="1524279"/>
          <a:ext cx="6858000" cy="761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JWT token alapú hitelesítés</a:t>
          </a:r>
          <a:endParaRPr lang="en-US" sz="2100" kern="1200"/>
        </a:p>
      </dsp:txBody>
      <dsp:txXfrm>
        <a:off x="0" y="1524279"/>
        <a:ext cx="6858000" cy="761813"/>
      </dsp:txXfrm>
    </dsp:sp>
    <dsp:sp modelId="{4FF9C9CC-3DAE-4E6A-9FAD-296174A4D1E9}">
      <dsp:nvSpPr>
        <dsp:cNvPr id="0" name=""/>
        <dsp:cNvSpPr/>
      </dsp:nvSpPr>
      <dsp:spPr>
        <a:xfrm>
          <a:off x="0" y="2286093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EAD302-4176-4349-9DBB-599DC646907B}">
      <dsp:nvSpPr>
        <dsp:cNvPr id="0" name=""/>
        <dsp:cNvSpPr/>
      </dsp:nvSpPr>
      <dsp:spPr>
        <a:xfrm>
          <a:off x="0" y="2286093"/>
          <a:ext cx="6858000" cy="761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Jogosultság- és szerepkörkezelés</a:t>
          </a:r>
          <a:endParaRPr lang="en-US" sz="2100" kern="1200"/>
        </a:p>
      </dsp:txBody>
      <dsp:txXfrm>
        <a:off x="0" y="2286093"/>
        <a:ext cx="6858000" cy="761813"/>
      </dsp:txXfrm>
    </dsp:sp>
    <dsp:sp modelId="{24C70334-5C7B-4102-BF17-38BACF8EB252}">
      <dsp:nvSpPr>
        <dsp:cNvPr id="0" name=""/>
        <dsp:cNvSpPr/>
      </dsp:nvSpPr>
      <dsp:spPr>
        <a:xfrm>
          <a:off x="0" y="3047906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84323C-662B-4EB1-9A09-88BF149444B9}">
      <dsp:nvSpPr>
        <dsp:cNvPr id="0" name=""/>
        <dsp:cNvSpPr/>
      </dsp:nvSpPr>
      <dsp:spPr>
        <a:xfrm>
          <a:off x="0" y="3047906"/>
          <a:ext cx="6858000" cy="761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Biztonságos jelszókezelés (hash + salt)</a:t>
          </a:r>
          <a:endParaRPr lang="en-US" sz="2100" kern="1200"/>
        </a:p>
      </dsp:txBody>
      <dsp:txXfrm>
        <a:off x="0" y="3047906"/>
        <a:ext cx="6858000" cy="761813"/>
      </dsp:txXfrm>
    </dsp:sp>
    <dsp:sp modelId="{E41B99E0-B568-47EC-B554-B5C3FBC8F27A}">
      <dsp:nvSpPr>
        <dsp:cNvPr id="0" name=""/>
        <dsp:cNvSpPr/>
      </dsp:nvSpPr>
      <dsp:spPr>
        <a:xfrm>
          <a:off x="0" y="3809720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4B5964-34BA-4E7A-BC0E-807548755E54}">
      <dsp:nvSpPr>
        <dsp:cNvPr id="0" name=""/>
        <dsp:cNvSpPr/>
      </dsp:nvSpPr>
      <dsp:spPr>
        <a:xfrm>
          <a:off x="0" y="3809720"/>
          <a:ext cx="6858000" cy="761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API védelem autentikációval</a:t>
          </a:r>
          <a:endParaRPr lang="en-US" sz="2100" kern="1200"/>
        </a:p>
      </dsp:txBody>
      <dsp:txXfrm>
        <a:off x="0" y="3809720"/>
        <a:ext cx="6858000" cy="761813"/>
      </dsp:txXfrm>
    </dsp:sp>
    <dsp:sp modelId="{871B2E08-09BA-48DB-B467-C85060AF9225}">
      <dsp:nvSpPr>
        <dsp:cNvPr id="0" name=""/>
        <dsp:cNvSpPr/>
      </dsp:nvSpPr>
      <dsp:spPr>
        <a:xfrm>
          <a:off x="0" y="4571534"/>
          <a:ext cx="6858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127265-5479-4AE4-BD00-3C47A8C381AB}">
      <dsp:nvSpPr>
        <dsp:cNvPr id="0" name=""/>
        <dsp:cNvSpPr/>
      </dsp:nvSpPr>
      <dsp:spPr>
        <a:xfrm>
          <a:off x="0" y="4571534"/>
          <a:ext cx="6858000" cy="761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Frontend integráció előkészítése</a:t>
          </a:r>
          <a:endParaRPr lang="en-US" sz="2100" kern="1200"/>
        </a:p>
      </dsp:txBody>
      <dsp:txXfrm>
        <a:off x="0" y="4571534"/>
        <a:ext cx="6858000" cy="7618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14DCE5-411A-4E42-AD3C-2494A4EAE779}" type="datetime1">
              <a:rPr lang="hu-HU" smtClean="0"/>
              <a:t>2026. 02. 03.</a:t>
            </a:fld>
            <a:endParaRPr lang="en-US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368516-3842-4620-B9B3-67F535CB3A5D}" type="datetime1">
              <a:rPr lang="hu-HU" smtClean="0"/>
              <a:t>2026. 02. 03.</a:t>
            </a:fld>
            <a:endParaRPr lang="en-US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"/>
              <a:t>Mintaszöveg szerkesztése</a:t>
            </a:r>
            <a:endParaRPr lang="en-US"/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Téglalap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Téglalap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15" name="Téglalap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grpSp>
        <p:nvGrpSpPr>
          <p:cNvPr id="7" name="Csoport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Egyenes összekötő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gyenes összekötő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gyenes összekötő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60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20" name="Dátum helye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E8BDBE0D-D7BD-4B72-8656-1BA1EE15204D}" type="datetime1">
              <a:rPr lang="hu-HU" smtClean="0"/>
              <a:t>2026. 02. 03.</a:t>
            </a:fld>
            <a:endParaRPr lang="en-US" dirty="0"/>
          </a:p>
        </p:txBody>
      </p:sp>
      <p:sp>
        <p:nvSpPr>
          <p:cNvPr id="21" name="Élőláb helye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Dia számának helye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7A52B9-A8AB-438E-B534-4C40C3A9E74F}" type="datetime1">
              <a:rPr lang="hu-HU" smtClean="0"/>
              <a:t>2026. 02. 03.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églalap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Téglalap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Téglalap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Téglalap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Autofit/>
          </a:bodyPr>
          <a:lstStyle>
            <a:lvl1pPr algn="ctr">
              <a:lnSpc>
                <a:spcPct val="83000"/>
              </a:lnSpc>
              <a:defRPr lang="en-US" sz="60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grpSp>
        <p:nvGrpSpPr>
          <p:cNvPr id="16" name="Csoport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Egyenes összekötő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gyenes összekötő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Egyenes összekötő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F11F62F7-5E21-4DF6-AD45-F2360C22BAAE}" type="datetime1">
              <a:rPr lang="hu-HU" smtClean="0"/>
              <a:t>2026. 02. 03.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ím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AD0CF7-F942-4A78-BD5B-565FEA1F0330}" type="datetime1">
              <a:rPr lang="hu-HU" smtClean="0"/>
              <a:t>2026. 02. 03.</a:t>
            </a:fld>
            <a:endParaRPr lang="en-US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B1E64E-AF4C-4D8A-B1A2-6376454CC97D}" type="datetime1">
              <a:rPr lang="hu-HU" smtClean="0"/>
              <a:t>2026. 02. 03.</a:t>
            </a:fld>
            <a:endParaRPr lang="en-US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377358-1C37-4F07-9A78-BAC0F950DA57}" type="datetime1">
              <a:rPr lang="hu-HU" smtClean="0"/>
              <a:t>2026. 02. 03.</a:t>
            </a:fld>
            <a:endParaRPr lang="en-US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CB3493-9A23-4FBB-AEE0-C0E6D5F3648B}" type="datetime1">
              <a:rPr lang="hu-HU" smtClean="0"/>
              <a:t>2026. 02. 03.</a:t>
            </a:fld>
            <a:endParaRPr lang="en-US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églalap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8" name="Dátum helye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C45F6E80-D825-48C2-9648-1D1B31372F92}" type="datetime1">
              <a:rPr lang="hu-HU" smtClean="0"/>
              <a:t>2026. 02. 03.</a:t>
            </a:fld>
            <a:endParaRPr lang="en-US"/>
          </a:p>
        </p:txBody>
      </p:sp>
      <p:sp>
        <p:nvSpPr>
          <p:cNvPr id="9" name="Élőláb helye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/>
          </a:p>
        </p:txBody>
      </p:sp>
      <p:sp>
        <p:nvSpPr>
          <p:cNvPr id="11" name="Dia számának helye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églalap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8977A4C8-8FD0-44EA-A473-E0338D05B7ED}" type="datetime1">
              <a:rPr lang="hu-HU" smtClean="0"/>
              <a:t>2026. 02. 03.</a:t>
            </a:fld>
            <a:endParaRPr lang="en-US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164A21-2A73-421C-B26A-59E41BBEFBEB}" type="datetime1">
              <a:rPr lang="hu-HU" smtClean="0"/>
              <a:t>2026. 02. 03.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27CBEE9-063A-466D-A69B-CD20FA75015F}" type="datetime1">
              <a:rPr lang="hu-HU" smtClean="0"/>
              <a:t>2026. 02. 03.</a:t>
            </a:fld>
            <a:endParaRPr lang="en-US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Téglalap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Téglalap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hu-HU"/>
          </a:p>
        </p:txBody>
      </p:sp>
      <p:sp>
        <p:nvSpPr>
          <p:cNvPr id="8" name="Téglalap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hu"/>
              <a:t>Mintacím stílusának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hu"/>
              <a:t>Mintaszöveg szerkesztése</a:t>
            </a:r>
          </a:p>
          <a:p>
            <a:pPr lvl="1" rtl="0"/>
            <a:r>
              <a:rPr lang="hu"/>
              <a:t>Második szint</a:t>
            </a:r>
          </a:p>
          <a:p>
            <a:pPr lvl="2" rtl="0"/>
            <a:r>
              <a:rPr lang="hu"/>
              <a:t>Harmadik szint</a:t>
            </a:r>
          </a:p>
          <a:p>
            <a:pPr lvl="3" rtl="0"/>
            <a:r>
              <a:rPr lang="hu"/>
              <a:t>Negyedik szint</a:t>
            </a:r>
          </a:p>
          <a:p>
            <a:pPr lvl="4" rtl="0"/>
            <a:r>
              <a:rPr lang="hu"/>
              <a:t>Ötödik szint</a:t>
            </a:r>
            <a:endParaRPr lang="en-US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0150E88-5DA4-48FE-971C-3A8E0386704F}" type="datetime1">
              <a:rPr lang="hu-HU" smtClean="0"/>
              <a:t>2026. 02. 03.</a:t>
            </a:fld>
            <a:endParaRPr lang="en-US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asp.net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 descr="Egy embléma közelképe&#10;&#10;Automatikusan létrehozott leírás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Téglalap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hu-HU"/>
          </a:p>
        </p:txBody>
      </p:sp>
      <p:sp>
        <p:nvSpPr>
          <p:cNvPr id="84" name="Téglalap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/>
          </a:bodyPr>
          <a:lstStyle/>
          <a:p>
            <a:pPr rtl="0"/>
            <a:r>
              <a:rPr lang="hu" sz="4400" dirty="0">
                <a:solidFill>
                  <a:schemeClr val="tx1"/>
                </a:solidFill>
              </a:rPr>
              <a:t>RMB COaching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 rtlCol="0">
            <a:normAutofit fontScale="92500" lnSpcReduction="20000"/>
          </a:bodyPr>
          <a:lstStyle/>
          <a:p>
            <a:pPr rtl="0">
              <a:spcAft>
                <a:spcPts val="600"/>
              </a:spcAft>
            </a:pPr>
            <a:r>
              <a:rPr lang="hu" dirty="0">
                <a:solidFill>
                  <a:schemeClr val="tx1"/>
                </a:solidFill>
              </a:rPr>
              <a:t>RUBOVSZKI BALÁZS, MEZEI BOTOND, BAKAJA CSABA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61BB6B-9171-41E1-8831-CDEA554CC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Web API – Adatbázis réteg modernizálása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476566-18BA-2C89-FA3F-61691518E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B7A52B9-A8AB-438E-B534-4C40C3A9E74F}" type="datetime1">
              <a:rPr lang="hu-HU" smtClean="0"/>
              <a:t>2026. 02. 03.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8C85C10-CED3-47C3-C4D5-310F12127F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backend réteg újrastrukturálása .NET Web API segítségével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Entity Framework Core használata adatkezeléshez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Tiszta architektúra elvek alkalmazása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Skálázható adatmodell kialakítása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végpontok optimalizálása frontend kommunikációhoz</a:t>
            </a:r>
          </a:p>
        </p:txBody>
      </p:sp>
      <p:pic>
        <p:nvPicPr>
          <p:cNvPr id="7" name="Kép 6" descr="A képen szöveg, képernyőkép, szoftver, Multimédiás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DE08B23-9010-161F-1051-7817BFCFA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0143" y="504417"/>
            <a:ext cx="3429479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16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CFA050C-1CE6-B94E-876F-B68EEC1E9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anchor="ctr">
            <a:normAutofit/>
          </a:bodyPr>
          <a:lstStyle/>
          <a:p>
            <a:r>
              <a:rPr lang="hu-HU" b="1" dirty="0"/>
              <a:t>Adatbázis struktúra</a:t>
            </a:r>
            <a:br>
              <a:rPr lang="hu-HU" b="1" dirty="0"/>
            </a:br>
            <a:endParaRPr lang="hu-HU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A518732-DA69-0171-45EF-2ED3FC0ECE4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66800" y="2103120"/>
            <a:ext cx="4663440" cy="374904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effectLst/>
              </a:rPr>
              <a:t>Relációs adatbázis modell tervezése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effectLst/>
              </a:rPr>
              <a:t>Fő entitások: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effectLst/>
              </a:rPr>
              <a:t>Felhasználók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effectLst/>
              </a:rPr>
              <a:t>Edzéstervek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effectLst/>
              </a:rPr>
              <a:t>Edzők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effectLst/>
              </a:rPr>
              <a:t>Kapcsolótáblák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effectLst/>
              </a:rPr>
              <a:t>Elsődleges kulcsok és kapcsolatok definiálása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effectLst/>
              </a:rPr>
              <a:t>Migrációk alkalmazása verziókezeléshez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effectLst/>
              </a:rPr>
              <a:t>Adatintegritás biztosítása</a:t>
            </a:r>
          </a:p>
        </p:txBody>
      </p:sp>
      <p:pic>
        <p:nvPicPr>
          <p:cNvPr id="7" name="Kép 6" descr="A képen szöveg, képernyőkép, Betűtípus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53A5F8E5-E4EA-EA2F-BF0C-455DD5013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760" y="2228850"/>
            <a:ext cx="4663440" cy="3497580"/>
          </a:xfrm>
          <a:prstGeom prst="rect">
            <a:avLst/>
          </a:prstGeom>
          <a:noFill/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35411D81-EAF0-2BD6-4953-3A48F09324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6794" y="6035040"/>
            <a:ext cx="2893045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7B7A52B9-A8AB-438E-B534-4C40C3A9E74F}" type="datetime1">
              <a:rPr lang="hu-HU" smtClean="0"/>
              <a:pPr rtl="0">
                <a:spcAft>
                  <a:spcPts val="600"/>
                </a:spcAft>
              </a:pPr>
              <a:t>2026. 02. 03.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57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artalom helye 6" descr="A képen szöveg, képernyőkép, Betűtípus, szám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63172CB-1C8C-3E5A-DD75-36D1186CA4A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1459870" y="237744"/>
            <a:ext cx="5233659" cy="6382512"/>
          </a:xfrm>
          <a:prstGeom prst="rect">
            <a:avLst/>
          </a:prstGeom>
          <a:noFill/>
        </p:spPr>
      </p:pic>
      <p:sp>
        <p:nvSpPr>
          <p:cNvPr id="5" name="Dátum helye 4">
            <a:extLst>
              <a:ext uri="{FF2B5EF4-FFF2-40B4-BE49-F238E27FC236}">
                <a16:creationId xmlns:a16="http://schemas.microsoft.com/office/drawing/2014/main" id="{5CA082B5-12CD-486D-2682-1E2DBB458D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C1AD0CF7-F942-4A78-BD5B-565FEA1F0330}" type="datetime1">
              <a:rPr lang="hu-HU" smtClean="0"/>
              <a:pPr rtl="0">
                <a:spcAft>
                  <a:spcPts val="600"/>
                </a:spcAft>
              </a:pPr>
              <a:t>2026. 02. 03.</a:t>
            </a:fld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D6C0DB2-4507-3B74-01AD-DD21E2DBD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rmAutofit/>
          </a:bodyPr>
          <a:lstStyle/>
          <a:p>
            <a:r>
              <a:rPr lang="hu-HU" dirty="0"/>
              <a:t>API architektúra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43845C-F703-32D5-B8A4-51B7FD1B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hu-HU" sz="1700"/>
              <a:t>REST alapú API felépítés</a:t>
            </a:r>
          </a:p>
          <a:p>
            <a:pPr>
              <a:lnSpc>
                <a:spcPct val="100000"/>
              </a:lnSpc>
            </a:pPr>
            <a:r>
              <a:rPr lang="hu-HU" sz="1700" err="1"/>
              <a:t>Controller</a:t>
            </a:r>
            <a:r>
              <a:rPr lang="hu-HU" sz="1700"/>
              <a:t>–Service–</a:t>
            </a:r>
            <a:r>
              <a:rPr lang="hu-HU" sz="1700" err="1"/>
              <a:t>Repository</a:t>
            </a:r>
            <a:r>
              <a:rPr lang="hu-HU" sz="1700"/>
              <a:t> minta</a:t>
            </a:r>
          </a:p>
          <a:p>
            <a:pPr>
              <a:lnSpc>
                <a:spcPct val="100000"/>
              </a:lnSpc>
            </a:pPr>
            <a:r>
              <a:rPr lang="hu-HU" sz="1700"/>
              <a:t>CRUD műveletek implementálása</a:t>
            </a:r>
          </a:p>
          <a:p>
            <a:pPr>
              <a:lnSpc>
                <a:spcPct val="100000"/>
              </a:lnSpc>
            </a:pPr>
            <a:r>
              <a:rPr lang="hu-HU" sz="1700"/>
              <a:t>JSON adatcsere frontend felé</a:t>
            </a:r>
          </a:p>
          <a:p>
            <a:pPr>
              <a:lnSpc>
                <a:spcPct val="100000"/>
              </a:lnSpc>
            </a:pPr>
            <a:r>
              <a:rPr lang="hu-HU" sz="1700"/>
              <a:t>Hibakezelési rendszer kialakítása</a:t>
            </a:r>
          </a:p>
          <a:p>
            <a:pPr>
              <a:lnSpc>
                <a:spcPct val="100000"/>
              </a:lnSpc>
            </a:pPr>
            <a:r>
              <a:rPr lang="hu-HU" sz="1700" err="1"/>
              <a:t>Swagger</a:t>
            </a:r>
            <a:r>
              <a:rPr lang="hu-HU" sz="1700"/>
              <a:t> dokumentáció használata</a:t>
            </a:r>
          </a:p>
          <a:p>
            <a:pPr>
              <a:lnSpc>
                <a:spcPct val="100000"/>
              </a:lnSpc>
            </a:pPr>
            <a:endParaRPr lang="hu-HU" sz="1700"/>
          </a:p>
        </p:txBody>
      </p:sp>
    </p:spTree>
    <p:extLst>
      <p:ext uri="{BB962C8B-B14F-4D97-AF65-F5344CB8AC3E}">
        <p14:creationId xmlns:p14="http://schemas.microsoft.com/office/powerpoint/2010/main" val="2804371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AF518511-13CE-DB85-5304-DE065B8A0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2500" b="1" dirty="0"/>
              <a:t>Következő backend lépések – Auth API fejlesztés</a:t>
            </a:r>
            <a:br>
              <a:rPr lang="hu-HU" sz="2500" b="1" dirty="0"/>
            </a:br>
            <a:endParaRPr lang="hu-HU" sz="2500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A4456D-268C-CFD2-3E54-FAC0938FA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F2EC644-8839-130F-56EA-2371D98DFE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8977A4C8-8FD0-44EA-A473-E0338D05B7ED}" type="datetime1">
              <a:rPr lang="hu-HU" smtClean="0"/>
              <a:pPr rtl="0">
                <a:spcAft>
                  <a:spcPts val="600"/>
                </a:spcAft>
              </a:pPr>
              <a:t>2026. 02. 03.</a:t>
            </a:fld>
            <a:endParaRPr lang="en-US"/>
          </a:p>
        </p:txBody>
      </p:sp>
      <p:graphicFrame>
        <p:nvGraphicFramePr>
          <p:cNvPr id="7" name="Szöveg helye 4">
            <a:extLst>
              <a:ext uri="{FF2B5EF4-FFF2-40B4-BE49-F238E27FC236}">
                <a16:creationId xmlns:a16="http://schemas.microsoft.com/office/drawing/2014/main" id="{0D84845D-7562-B766-ED14-9ECE2B99A7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9827069"/>
              </p:ext>
            </p:extLst>
          </p:nvPr>
        </p:nvGraphicFramePr>
        <p:xfrm>
          <a:off x="685800" y="609600"/>
          <a:ext cx="68580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5431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artalom helye 6" descr="A képen szöveg, képernyőkép, képernyő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B81DBAD-D906-E080-006F-021572CCED3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tretch/>
        </p:blipFill>
        <p:spPr>
          <a:xfrm>
            <a:off x="228599" y="1447228"/>
            <a:ext cx="7696201" cy="3963543"/>
          </a:xfrm>
          <a:prstGeom prst="rect">
            <a:avLst/>
          </a:prstGeom>
          <a:noFill/>
        </p:spPr>
      </p:pic>
      <p:sp>
        <p:nvSpPr>
          <p:cNvPr id="5" name="Dátum helye 4">
            <a:extLst>
              <a:ext uri="{FF2B5EF4-FFF2-40B4-BE49-F238E27FC236}">
                <a16:creationId xmlns:a16="http://schemas.microsoft.com/office/drawing/2014/main" id="{FAF51069-DDA4-A97D-90C8-A1755B06AB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C45F6E80-D825-48C2-9648-1D1B31372F92}" type="datetime1">
              <a:rPr lang="hu-HU" smtClean="0"/>
              <a:pPr rtl="0">
                <a:spcAft>
                  <a:spcPts val="600"/>
                </a:spcAft>
              </a:pPr>
              <a:t>2026. 02. 03.</a:t>
            </a:fld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AC95945-0875-E183-94BE-6DCBAD9C9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rmAutofit/>
          </a:bodyPr>
          <a:lstStyle/>
          <a:p>
            <a:r>
              <a:rPr lang="hu-HU" dirty="0" err="1"/>
              <a:t>Desktop</a:t>
            </a:r>
            <a:r>
              <a:rPr lang="hu-HU" dirty="0"/>
              <a:t> alkalmazás – WPF alapok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812B81A-CB6E-58EF-0CCF-D9EC017FFC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hu-HU" sz="1700" err="1"/>
              <a:t>Admin</a:t>
            </a:r>
            <a:r>
              <a:rPr lang="hu-HU" sz="1700"/>
              <a:t> felület fejlesztése </a:t>
            </a:r>
            <a:r>
              <a:rPr lang="hu-HU" sz="1700" b="1"/>
              <a:t>WPF (Windows </a:t>
            </a:r>
            <a:r>
              <a:rPr lang="hu-HU" sz="1700" b="1" err="1"/>
              <a:t>Presentation</a:t>
            </a:r>
            <a:r>
              <a:rPr lang="hu-HU" sz="1700" b="1"/>
              <a:t> </a:t>
            </a:r>
            <a:r>
              <a:rPr lang="hu-HU" sz="1700" b="1" err="1"/>
              <a:t>Foundation</a:t>
            </a:r>
            <a:r>
              <a:rPr lang="hu-HU" sz="1700" b="1"/>
              <a:t>)</a:t>
            </a:r>
            <a:r>
              <a:rPr lang="hu-HU" sz="1700"/>
              <a:t> környezetben</a:t>
            </a:r>
          </a:p>
          <a:p>
            <a:pPr>
              <a:lnSpc>
                <a:spcPct val="100000"/>
              </a:lnSpc>
            </a:pPr>
            <a:r>
              <a:rPr lang="hu-HU" sz="1700"/>
              <a:t>Cél: adatok kezelése </a:t>
            </a:r>
            <a:r>
              <a:rPr lang="hu-HU" sz="1700" err="1"/>
              <a:t>desktop</a:t>
            </a:r>
            <a:r>
              <a:rPr lang="hu-HU" sz="1700"/>
              <a:t> felületen (áttekintés + szerkesztés)</a:t>
            </a:r>
          </a:p>
          <a:p>
            <a:pPr>
              <a:lnSpc>
                <a:spcPct val="100000"/>
              </a:lnSpc>
            </a:pPr>
            <a:r>
              <a:rPr lang="hu-HU" sz="1700"/>
              <a:t>Modern, könnyen bővíthető UI (XAML alapú felépítés)</a:t>
            </a:r>
          </a:p>
          <a:p>
            <a:pPr>
              <a:lnSpc>
                <a:spcPct val="100000"/>
              </a:lnSpc>
            </a:pPr>
            <a:r>
              <a:rPr lang="hu-HU" sz="1700"/>
              <a:t>Backend/Web API-</a:t>
            </a:r>
            <a:r>
              <a:rPr lang="hu-HU" sz="1700" err="1"/>
              <a:t>val</a:t>
            </a:r>
            <a:r>
              <a:rPr lang="hu-HU" sz="1700"/>
              <a:t> összeköthető struktúra előkészítése</a:t>
            </a:r>
          </a:p>
          <a:p>
            <a:pPr>
              <a:lnSpc>
                <a:spcPct val="100000"/>
              </a:lnSpc>
            </a:pPr>
            <a:endParaRPr lang="hu-HU" sz="1700"/>
          </a:p>
        </p:txBody>
      </p:sp>
    </p:spTree>
    <p:extLst>
      <p:ext uri="{BB962C8B-B14F-4D97-AF65-F5344CB8AC3E}">
        <p14:creationId xmlns:p14="http://schemas.microsoft.com/office/powerpoint/2010/main" val="4153657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artalom helye 7" descr="A képen szöveg, képernyőkép, képernyő, szoftver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E4DED70-C30F-ACA2-2105-57CE698FB86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7900"/>
          <a:stretch>
            <a:fillRect/>
          </a:stretch>
        </p:blipFill>
        <p:spPr>
          <a:xfrm>
            <a:off x="228599" y="237744"/>
            <a:ext cx="7696201" cy="6382512"/>
          </a:xfrm>
          <a:prstGeom prst="rect">
            <a:avLst/>
          </a:prstGeom>
          <a:noFill/>
        </p:spPr>
      </p:pic>
      <p:sp>
        <p:nvSpPr>
          <p:cNvPr id="5" name="Dátum helye 4">
            <a:extLst>
              <a:ext uri="{FF2B5EF4-FFF2-40B4-BE49-F238E27FC236}">
                <a16:creationId xmlns:a16="http://schemas.microsoft.com/office/drawing/2014/main" id="{35295612-2AB3-4039-79F3-49642E23E9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C45F6E80-D825-48C2-9648-1D1B31372F92}" type="datetime1">
              <a:rPr lang="hu-HU" smtClean="0"/>
              <a:pPr rtl="0">
                <a:spcAft>
                  <a:spcPts val="600"/>
                </a:spcAft>
              </a:pPr>
              <a:t>2026. 02. 03.</a:t>
            </a:fld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288043D-ABCC-DBE4-E001-880D55CF4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2700" b="1"/>
              <a:t>WPF – CRUD műveletek az </a:t>
            </a:r>
            <a:r>
              <a:rPr lang="hu-HU" sz="2700" b="1" err="1"/>
              <a:t>admin</a:t>
            </a:r>
            <a:r>
              <a:rPr lang="hu-HU" sz="2700" b="1"/>
              <a:t> felületen</a:t>
            </a:r>
            <a:br>
              <a:rPr lang="hu-HU" sz="2700" b="1"/>
            </a:br>
            <a:endParaRPr lang="hu-HU" sz="270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43AED16-52D1-ABCA-76B6-762C1DACF26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477250" y="2386584"/>
            <a:ext cx="3144774" cy="3511296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1" i="0" u="none" strike="noStrike" cap="none" normalizeH="0" baseline="0">
                <a:ln>
                  <a:noFill/>
                </a:ln>
                <a:effectLst/>
              </a:rPr>
              <a:t>Create:</a:t>
            </a:r>
            <a:r>
              <a:rPr kumimoji="0" lang="hu-HU" altLang="hu-HU" sz="1700" b="0" i="0" u="none" strike="noStrike" cap="none" normalizeH="0" baseline="0">
                <a:ln>
                  <a:noFill/>
                </a:ln>
                <a:effectLst/>
              </a:rPr>
              <a:t> új rekord felvétele (pl. felhasználó / edző / edzésterv)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1" i="0" u="none" strike="noStrike" cap="none" normalizeH="0" baseline="0">
                <a:ln>
                  <a:noFill/>
                </a:ln>
                <a:effectLst/>
              </a:rPr>
              <a:t>Read:</a:t>
            </a:r>
            <a:r>
              <a:rPr kumimoji="0" lang="hu-HU" altLang="hu-HU" sz="1700" b="0" i="0" u="none" strike="noStrike" cap="none" normalizeH="0" baseline="0">
                <a:ln>
                  <a:noFill/>
                </a:ln>
                <a:effectLst/>
              </a:rPr>
              <a:t> lista + részletek megjelenítése (DataGrid / ListView)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1" i="0" u="none" strike="noStrike" cap="none" normalizeH="0" baseline="0">
                <a:ln>
                  <a:noFill/>
                </a:ln>
                <a:effectLst/>
              </a:rPr>
              <a:t>Update:</a:t>
            </a:r>
            <a:r>
              <a:rPr kumimoji="0" lang="hu-HU" altLang="hu-HU" sz="1700" b="0" i="0" u="none" strike="noStrike" cap="none" normalizeH="0" baseline="0">
                <a:ln>
                  <a:noFill/>
                </a:ln>
                <a:effectLst/>
              </a:rPr>
              <a:t> kiválasztott rekord módosítása (űrlap mezők)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1" i="0" u="none" strike="noStrike" cap="none" normalizeH="0" baseline="0">
                <a:ln>
                  <a:noFill/>
                </a:ln>
                <a:effectLst/>
              </a:rPr>
              <a:t>Delete:</a:t>
            </a:r>
            <a:r>
              <a:rPr kumimoji="0" lang="hu-HU" altLang="hu-HU" sz="1700" b="0" i="0" u="none" strike="noStrike" cap="none" normalizeH="0" baseline="0">
                <a:ln>
                  <a:noFill/>
                </a:ln>
                <a:effectLst/>
              </a:rPr>
              <a:t> rekord törlése megerősítéssel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sz="1700" b="0" i="0" u="none" strike="noStrike" cap="none" normalizeH="0" baseline="0">
                <a:ln>
                  <a:noFill/>
                </a:ln>
                <a:effectLst/>
              </a:rPr>
              <a:t>Validáció: kötelező mezők, hibajelzés a felhasználónak</a:t>
            </a:r>
          </a:p>
        </p:txBody>
      </p:sp>
    </p:spTree>
    <p:extLst>
      <p:ext uri="{BB962C8B-B14F-4D97-AF65-F5344CB8AC3E}">
        <p14:creationId xmlns:p14="http://schemas.microsoft.com/office/powerpoint/2010/main" val="918127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D65E51D3-44E6-3D26-80D6-9C996D881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anchor="ctr">
            <a:normAutofit/>
          </a:bodyPr>
          <a:lstStyle/>
          <a:p>
            <a:r>
              <a:rPr lang="hu-HU" dirty="0"/>
              <a:t>Következő lépések WPF oldalon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77409DF-84A0-6FC0-60BF-51DAF9DC30A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66800" y="2103120"/>
            <a:ext cx="4663440" cy="374904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effectLst/>
              </a:rPr>
              <a:t>UI finomhangolás (formok, validációk, egységes design)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effectLst/>
              </a:rPr>
              <a:t>CRUD folyamatok véglegesítése minden modulra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effectLst/>
              </a:rPr>
              <a:t>Összekötés a backenddel / Auth-tal (admin login)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hu-HU" altLang="hu-HU" b="0" i="0" u="none" strike="noStrike" cap="none" normalizeH="0" baseline="0">
                <a:ln>
                  <a:noFill/>
                </a:ln>
                <a:effectLst/>
              </a:rPr>
              <a:t>Naplózás (ki mit módosított) az admin műveleteknél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E3FF6E3-2D18-0E78-C627-6841515D0C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51F3208-E514-6C7B-CAFC-7F7DD92EDF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6794" y="6035040"/>
            <a:ext cx="2893045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8977A4C8-8FD0-44EA-A473-E0338D05B7ED}" type="datetime1">
              <a:rPr lang="hu-HU" smtClean="0"/>
              <a:pPr rtl="0">
                <a:spcAft>
                  <a:spcPts val="600"/>
                </a:spcAft>
              </a:pPr>
              <a:t>2026. 02. 03.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47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Tartalom helye 10" descr="A képen szöveg, képernyőkép, szám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7454F5F-5440-F624-80AF-50E6411A084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1212548" y="237744"/>
            <a:ext cx="5728303" cy="6382512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átum helye 4">
            <a:extLst>
              <a:ext uri="{FF2B5EF4-FFF2-40B4-BE49-F238E27FC236}">
                <a16:creationId xmlns:a16="http://schemas.microsoft.com/office/drawing/2014/main" id="{7057470D-B601-8265-90CF-F9FB6FDC04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C1AD0CF7-F942-4A78-BD5B-565FEA1F0330}" type="datetime1">
              <a:rPr lang="hu-HU" smtClean="0"/>
              <a:pPr rtl="0">
                <a:spcAft>
                  <a:spcPts val="600"/>
                </a:spcAft>
              </a:pPr>
              <a:t>2026. 02. 03.</a:t>
            </a:fld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9F8A6A7-8CEF-5AC5-E55E-59A81AEE6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rmAutofit/>
          </a:bodyPr>
          <a:lstStyle/>
          <a:p>
            <a:r>
              <a:rPr lang="hu-HU" b="1" dirty="0"/>
              <a:t>Az alkalmazás célja</a:t>
            </a:r>
            <a:br>
              <a:rPr lang="hu-HU" b="1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BC6B883-684B-4941-CFC2-E9DE08C82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hu-HU" sz="1000"/>
              <a:t>Ez az alkalmazás egy </a:t>
            </a:r>
            <a:r>
              <a:rPr lang="hu-HU" sz="1000" b="1"/>
              <a:t>nagyon egyszerű </a:t>
            </a:r>
            <a:r>
              <a:rPr lang="hu-HU" sz="1000" b="1" err="1"/>
              <a:t>React</a:t>
            </a:r>
            <a:r>
              <a:rPr lang="hu-HU" sz="1000" b="1"/>
              <a:t> alapú weboldal</a:t>
            </a:r>
            <a:r>
              <a:rPr lang="hu-HU" sz="1000"/>
              <a:t>, amely egy meglévő </a:t>
            </a:r>
            <a:r>
              <a:rPr lang="hu-HU" sz="1000" b="1">
                <a:hlinkClick r:id="rId3"/>
              </a:rPr>
              <a:t>ASP.NET</a:t>
            </a:r>
            <a:r>
              <a:rPr lang="hu-HU" sz="1000" b="1"/>
              <a:t> Web API</a:t>
            </a:r>
            <a:r>
              <a:rPr lang="hu-HU" sz="1000"/>
              <a:t> működésének kipróbálására és ellenőrzésére szolgál.</a:t>
            </a:r>
            <a:br>
              <a:rPr lang="hu-HU" sz="1000"/>
            </a:br>
            <a:r>
              <a:rPr lang="hu-HU" sz="1000"/>
              <a:t>Az oldal nem tartalmaz külső UI könyvtárakat vagy bonyolult logikát, kizárólag a </a:t>
            </a:r>
            <a:r>
              <a:rPr lang="hu-HU" sz="1000" err="1"/>
              <a:t>React</a:t>
            </a:r>
            <a:r>
              <a:rPr lang="hu-HU" sz="1000"/>
              <a:t> alapfunkcióira és a </a:t>
            </a:r>
            <a:r>
              <a:rPr lang="hu-HU" sz="1000" err="1"/>
              <a:t>fetch</a:t>
            </a:r>
            <a:r>
              <a:rPr lang="hu-HU" sz="1000"/>
              <a:t> API-</a:t>
            </a:r>
            <a:r>
              <a:rPr lang="hu-HU" sz="1000" err="1"/>
              <a:t>ra</a:t>
            </a:r>
            <a:r>
              <a:rPr lang="hu-HU" sz="1000"/>
              <a:t> épül.</a:t>
            </a:r>
          </a:p>
          <a:p>
            <a:pPr>
              <a:lnSpc>
                <a:spcPct val="100000"/>
              </a:lnSpc>
            </a:pPr>
            <a:r>
              <a:rPr lang="hu-HU" sz="1000"/>
              <a:t>A fő célja az, hogy:</a:t>
            </a:r>
          </a:p>
          <a:p>
            <a:pPr>
              <a:lnSpc>
                <a:spcPct val="100000"/>
              </a:lnSpc>
            </a:pPr>
            <a:r>
              <a:rPr lang="hu-HU" sz="1000"/>
              <a:t>ellenőrizni lehessen, hogy az API elérhető-e,</a:t>
            </a:r>
          </a:p>
          <a:p>
            <a:pPr>
              <a:lnSpc>
                <a:spcPct val="100000"/>
              </a:lnSpc>
            </a:pPr>
            <a:r>
              <a:rPr lang="hu-HU" sz="1000"/>
              <a:t>a backend végpontjai helyesen válaszolnak-e,</a:t>
            </a:r>
          </a:p>
          <a:p>
            <a:pPr>
              <a:lnSpc>
                <a:spcPct val="100000"/>
              </a:lnSpc>
            </a:pPr>
            <a:r>
              <a:rPr lang="hu-HU" sz="1000"/>
              <a:t>és az adatok megfelelő formátumban érkeznek-e vissza.</a:t>
            </a:r>
          </a:p>
          <a:p>
            <a:pPr>
              <a:lnSpc>
                <a:spcPct val="100000"/>
              </a:lnSpc>
            </a:pPr>
            <a:r>
              <a:rPr lang="hu-HU" sz="1000"/>
              <a:t>Ez az oldal </a:t>
            </a:r>
            <a:r>
              <a:rPr lang="hu-HU" sz="1000" b="1"/>
              <a:t>nem végfelhasználói rendszer</a:t>
            </a:r>
            <a:r>
              <a:rPr lang="hu-HU" sz="1000"/>
              <a:t>, hanem egy technikai teszt- és demófelület.</a:t>
            </a:r>
          </a:p>
          <a:p>
            <a:pPr>
              <a:lnSpc>
                <a:spcPct val="100000"/>
              </a:lnSpc>
            </a:pPr>
            <a:br>
              <a:rPr lang="hu-HU" sz="1000"/>
            </a:br>
            <a:endParaRPr lang="hu-HU" sz="1000"/>
          </a:p>
        </p:txBody>
      </p:sp>
    </p:spTree>
    <p:extLst>
      <p:ext uri="{BB962C8B-B14F-4D97-AF65-F5344CB8AC3E}">
        <p14:creationId xmlns:p14="http://schemas.microsoft.com/office/powerpoint/2010/main" val="1623499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4023E8C-B853-4BBF-7CC4-2CCC37281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Hogyan működik technikailag</a:t>
            </a:r>
            <a:br>
              <a:rPr lang="hu-HU" b="1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AE26EA-1562-E76E-0EB0-538E575B67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/>
              <a:t>Az alkalmazás a böngészőből </a:t>
            </a:r>
            <a:r>
              <a:rPr lang="hu-HU" b="1" dirty="0"/>
              <a:t>HTTP kéréseket küld</a:t>
            </a:r>
            <a:r>
              <a:rPr lang="hu-HU" dirty="0"/>
              <a:t> a backend API végpontjaira.</a:t>
            </a:r>
            <a:br>
              <a:rPr lang="hu-HU" dirty="0"/>
            </a:br>
            <a:r>
              <a:rPr lang="hu-HU" dirty="0"/>
              <a:t>Minden adatlekérés a </a:t>
            </a:r>
            <a:r>
              <a:rPr lang="hu-HU" dirty="0" err="1"/>
              <a:t>fetch</a:t>
            </a:r>
            <a:r>
              <a:rPr lang="hu-HU" dirty="0"/>
              <a:t> segítségével történik, például:</a:t>
            </a:r>
          </a:p>
          <a:p>
            <a:r>
              <a:rPr lang="hu-HU" dirty="0"/>
              <a:t>GET /</a:t>
            </a:r>
            <a:r>
              <a:rPr lang="hu-HU" dirty="0" err="1"/>
              <a:t>api</a:t>
            </a:r>
            <a:r>
              <a:rPr lang="hu-HU" dirty="0"/>
              <a:t>/</a:t>
            </a:r>
            <a:r>
              <a:rPr lang="hu-HU" dirty="0" err="1"/>
              <a:t>health</a:t>
            </a:r>
            <a:r>
              <a:rPr lang="hu-HU" dirty="0"/>
              <a:t>/db – az adatbázis állapotának ellenőrzése</a:t>
            </a:r>
          </a:p>
          <a:p>
            <a:r>
              <a:rPr lang="hu-HU" dirty="0"/>
              <a:t>GET /</a:t>
            </a:r>
            <a:r>
              <a:rPr lang="hu-HU" dirty="0" err="1"/>
              <a:t>api</a:t>
            </a:r>
            <a:r>
              <a:rPr lang="hu-HU" dirty="0"/>
              <a:t>/</a:t>
            </a:r>
            <a:r>
              <a:rPr lang="hu-HU" dirty="0" err="1"/>
              <a:t>coaches</a:t>
            </a:r>
            <a:r>
              <a:rPr lang="hu-HU" dirty="0"/>
              <a:t> – edzők listázása</a:t>
            </a:r>
          </a:p>
          <a:p>
            <a:r>
              <a:rPr lang="hu-HU" dirty="0"/>
              <a:t>A </a:t>
            </a:r>
            <a:r>
              <a:rPr lang="hu-HU" dirty="0" err="1"/>
              <a:t>React</a:t>
            </a:r>
            <a:r>
              <a:rPr lang="hu-HU" dirty="0"/>
              <a:t> komponens:</a:t>
            </a:r>
          </a:p>
          <a:p>
            <a:r>
              <a:rPr lang="hu-HU" dirty="0" err="1"/>
              <a:t>useEffect</a:t>
            </a:r>
            <a:r>
              <a:rPr lang="hu-HU" dirty="0"/>
              <a:t> segítségével induláskor automatikusan meghívja ezeket a végpontokat,</a:t>
            </a:r>
          </a:p>
          <a:p>
            <a:r>
              <a:rPr lang="hu-HU" dirty="0" err="1"/>
              <a:t>useState</a:t>
            </a:r>
            <a:r>
              <a:rPr lang="hu-HU" dirty="0"/>
              <a:t>-ben eltárolja a válaszokat,</a:t>
            </a:r>
          </a:p>
          <a:p>
            <a:r>
              <a:rPr lang="hu-HU" dirty="0"/>
              <a:t>majd JSON formában megjeleníti az adatokat az oldalon.</a:t>
            </a:r>
          </a:p>
          <a:p>
            <a:r>
              <a:rPr lang="hu-HU" dirty="0"/>
              <a:t>Ha az API nem érhető el vagy hibát ad vissza, az alkalmazás hibaüzenetet jelenít meg.</a:t>
            </a:r>
          </a:p>
          <a:p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64D21FF-0F8B-0A11-55C4-2D08EE01AF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endParaRPr lang="hu-HU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5D5658C-BB83-73B7-9598-88349E3CB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1AD0CF7-F942-4A78-BD5B-565FEA1F0330}" type="datetime1">
              <a:rPr lang="hu-HU" smtClean="0"/>
              <a:t>2026. 02. 03.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200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017B762-08D9-476F-3596-CEE0D0A9F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anchor="ctr">
            <a:normAutofit/>
          </a:bodyPr>
          <a:lstStyle/>
          <a:p>
            <a:r>
              <a:rPr lang="hu-HU" b="1" dirty="0"/>
              <a:t>Mit mutat meg és mire használható</a:t>
            </a:r>
            <a:br>
              <a:rPr lang="hu-HU" b="1" dirty="0"/>
            </a:br>
            <a:endParaRPr lang="hu-H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6DAB4C7-F264-F99C-12FD-7CBBC7FA7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EDCF82B-3AB2-7DA3-174D-C871C5945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hu-HU" sz="1000"/>
              <a:t>Az oldal egyszerű felületen jeleníti meg:</a:t>
            </a:r>
          </a:p>
          <a:p>
            <a:pPr>
              <a:lnSpc>
                <a:spcPct val="100000"/>
              </a:lnSpc>
            </a:pPr>
            <a:r>
              <a:rPr lang="hu-HU" sz="1000"/>
              <a:t>az API állapotát (</a:t>
            </a:r>
            <a:r>
              <a:rPr lang="hu-HU" sz="1000" err="1"/>
              <a:t>health</a:t>
            </a:r>
            <a:r>
              <a:rPr lang="hu-HU" sz="1000"/>
              <a:t> </a:t>
            </a:r>
            <a:r>
              <a:rPr lang="hu-HU" sz="1000" err="1"/>
              <a:t>check</a:t>
            </a:r>
            <a:r>
              <a:rPr lang="hu-HU" sz="1000"/>
              <a:t>),</a:t>
            </a:r>
          </a:p>
          <a:p>
            <a:pPr>
              <a:lnSpc>
                <a:spcPct val="100000"/>
              </a:lnSpc>
            </a:pPr>
            <a:r>
              <a:rPr lang="hu-HU" sz="1000"/>
              <a:t>az adatbázisból érkező edzők listáját,</a:t>
            </a:r>
          </a:p>
          <a:p>
            <a:pPr>
              <a:lnSpc>
                <a:spcPct val="100000"/>
              </a:lnSpc>
            </a:pPr>
            <a:r>
              <a:rPr lang="hu-HU" sz="1000"/>
              <a:t>valamint az API által visszaadott nyers JSON adatokat.</a:t>
            </a:r>
          </a:p>
          <a:p>
            <a:pPr>
              <a:lnSpc>
                <a:spcPct val="100000"/>
              </a:lnSpc>
            </a:pPr>
            <a:r>
              <a:rPr lang="hu-HU" sz="1000"/>
              <a:t>Ez lehetővé teszi, hogy:</a:t>
            </a:r>
          </a:p>
          <a:p>
            <a:pPr>
              <a:lnSpc>
                <a:spcPct val="100000"/>
              </a:lnSpc>
            </a:pPr>
            <a:r>
              <a:rPr lang="hu-HU" sz="1000"/>
              <a:t>gyorsan tesztelhető legyen az API működése frontend nélkül,</a:t>
            </a:r>
          </a:p>
          <a:p>
            <a:pPr>
              <a:lnSpc>
                <a:spcPct val="100000"/>
              </a:lnSpc>
            </a:pPr>
            <a:r>
              <a:rPr lang="hu-HU" sz="1000"/>
              <a:t>ellenőrizhető legyen a backend fejlesztés közben,</a:t>
            </a:r>
          </a:p>
          <a:p>
            <a:pPr>
              <a:lnSpc>
                <a:spcPct val="100000"/>
              </a:lnSpc>
            </a:pPr>
            <a:r>
              <a:rPr lang="hu-HU" sz="1000"/>
              <a:t>és demonstrálható legyen, hogy a Web API képes kiszolgálni egy </a:t>
            </a:r>
            <a:r>
              <a:rPr lang="hu-HU" sz="1000" err="1"/>
              <a:t>React</a:t>
            </a:r>
            <a:r>
              <a:rPr lang="hu-HU" sz="1000"/>
              <a:t> alapú klienst.</a:t>
            </a:r>
          </a:p>
          <a:p>
            <a:pPr>
              <a:lnSpc>
                <a:spcPct val="100000"/>
              </a:lnSpc>
            </a:pPr>
            <a:r>
              <a:rPr lang="hu-HU" sz="1000"/>
              <a:t>Összefoglalva:</a:t>
            </a:r>
            <a:br>
              <a:rPr lang="hu-HU" sz="1000"/>
            </a:br>
            <a:r>
              <a:rPr lang="hu-HU" sz="1000"/>
              <a:t>ez az alkalmazás </a:t>
            </a:r>
            <a:r>
              <a:rPr lang="hu-HU" sz="1000" b="1"/>
              <a:t>összeköti a frontendet a backenddel</a:t>
            </a:r>
            <a:r>
              <a:rPr lang="hu-HU" sz="1000"/>
              <a:t>, és bizonyítja, hogy az API megfelelően működik egy valódi webes környezetben.</a:t>
            </a:r>
            <a:br>
              <a:rPr lang="hu-HU" sz="1000"/>
            </a:br>
            <a:endParaRPr lang="hu-HU" sz="1000"/>
          </a:p>
          <a:p>
            <a:pPr>
              <a:lnSpc>
                <a:spcPct val="100000"/>
              </a:lnSpc>
            </a:pPr>
            <a:endParaRPr lang="hu-HU" sz="100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C8C8521-39E5-59DC-06F8-FD0A81F9A1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/>
          <a:lstStyle/>
          <a:p>
            <a:endParaRPr lang="en-US"/>
          </a:p>
        </p:txBody>
      </p:sp>
      <p:pic>
        <p:nvPicPr>
          <p:cNvPr id="6" name="Tartalom helye 10" descr="A képen szöveg, képernyőkép, szám, Betűtípus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08BC50A1-2408-87C3-F8A9-0FFF9376D24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70359" y="2792471"/>
            <a:ext cx="2840146" cy="3164509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átum helye 4">
            <a:extLst>
              <a:ext uri="{FF2B5EF4-FFF2-40B4-BE49-F238E27FC236}">
                <a16:creationId xmlns:a16="http://schemas.microsoft.com/office/drawing/2014/main" id="{8F4A61DA-8D57-AD72-B23E-F25BB181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6794" y="6035040"/>
            <a:ext cx="2893045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C1AD0CF7-F942-4A78-BD5B-565FEA1F0330}" type="datetime1">
              <a:rPr lang="hu-HU" smtClean="0"/>
              <a:pPr rtl="0">
                <a:spcAft>
                  <a:spcPts val="600"/>
                </a:spcAft>
              </a:pPr>
              <a:t>2026. 02. 03.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43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rtlCol="0">
            <a:normAutofit/>
          </a:bodyPr>
          <a:lstStyle/>
          <a:p>
            <a:pPr algn="ctr" rtl="0"/>
            <a:r>
              <a:rPr lang="hu" dirty="0"/>
              <a:t>KÖSZÖNJÜK A FIGYELMET!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A84AB42-FA6A-6CF6-0D38-3594BE70E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24_TF78438558" id="{AB246F2A-2CBF-491E-A6C5-29DA362F2C33}" vid="{99588252-1777-460A-BE9C-614E107CF06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{1CE8AC32-E471-404E-8C64-06C3C6E9ADFB}TF8a9b5915-b8c7-461e-8cdd-693d48b5e323eb99ba26_win32-8fdced149d01</Template>
  <TotalTime>144</TotalTime>
  <Words>561</Words>
  <Application>Microsoft Office PowerPoint</Application>
  <PresentationFormat>Szélesvásznú</PresentationFormat>
  <Paragraphs>87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Garamond</vt:lpstr>
      <vt:lpstr>SavonVTI</vt:lpstr>
      <vt:lpstr>RMB COaching</vt:lpstr>
      <vt:lpstr>Web API – Adatbázis réteg modernizálása</vt:lpstr>
      <vt:lpstr>Adatbázis struktúra </vt:lpstr>
      <vt:lpstr>API architektúra</vt:lpstr>
      <vt:lpstr>Következő backend lépések – Auth API fejlesztés </vt:lpstr>
      <vt:lpstr>Desktop alkalmazás – WPF alapok</vt:lpstr>
      <vt:lpstr>WPF – CRUD műveletek az admin felületen </vt:lpstr>
      <vt:lpstr>Következő lépések WPF oldalon</vt:lpstr>
      <vt:lpstr>Az alkalmazás célja </vt:lpstr>
      <vt:lpstr>Hogyan működik technikailag </vt:lpstr>
      <vt:lpstr>Mit mutat meg és mire használható 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Rubovszki Balázs</dc:creator>
  <cp:lastModifiedBy>Rubovszki Balázs</cp:lastModifiedBy>
  <cp:revision>1</cp:revision>
  <dcterms:created xsi:type="dcterms:W3CDTF">2026-02-03T06:52:28Z</dcterms:created>
  <dcterms:modified xsi:type="dcterms:W3CDTF">2026-02-03T09:17:17Z</dcterms:modified>
</cp:coreProperties>
</file>